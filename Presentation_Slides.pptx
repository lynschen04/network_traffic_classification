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Old Standard TT"/>
      <p:regular r:id="rId22"/>
      <p:bold r:id="rId23"/>
      <p: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272F50-1003-41CB-8EC8-E29694B8B799}">
  <a:tblStyle styleId="{E6272F50-1003-41CB-8EC8-E29694B8B7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22" Type="http://schemas.openxmlformats.org/officeDocument/2006/relationships/font" Target="fonts/OldStandardTT-regular.fntdata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24" Type="http://schemas.openxmlformats.org/officeDocument/2006/relationships/font" Target="fonts/OldStandardTT-italic.fntdata"/><Relationship Id="rId12" Type="http://schemas.openxmlformats.org/officeDocument/2006/relationships/slide" Target="slides/slide6.xml"/><Relationship Id="rId23" Type="http://schemas.openxmlformats.org/officeDocument/2006/relationships/font" Target="fonts/OldStandardT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61fd23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61fd23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61fd23c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61fd23c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61fd23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61fd23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61fd23c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61fd23c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7ce51a7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97ce51a7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7ce51a7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7ce51a7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7ce51a7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7ce51a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61fd23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961fd23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7ce51a7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97ce51a7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https://news.mit.edu/2017/explained-neural-networks-deep-learning-0414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7ce51a7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97ce51a7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https://stackoverflow.com/questions/37776333/why-too-many-features-cause-over-fitting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CSCI 434 Project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Florence Wang, Lynelle Chen, and Alison Mueller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Monitoring and Analyzing computer </a:t>
            </a: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traffic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particularly from popular internet websites such as 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Colonial Williamsburg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Instagram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Target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Extracting </a:t>
            </a: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website traffic data and build </a:t>
            </a: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classify the specific website from which the traffic originated.</a:t>
            </a:r>
            <a:endParaRPr sz="14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classification is done </a:t>
            </a:r>
            <a:r>
              <a:rPr lang="en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automatically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without access to the website URL or data payload that is typically encrypted.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11600" y="9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00725" y="993100"/>
            <a:ext cx="12279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Visited Website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00725" y="2501275"/>
            <a:ext cx="1426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Wireshark Collected Data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3975" y="4025675"/>
            <a:ext cx="1301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Exported Data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476350" y="401825"/>
            <a:ext cx="38670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Colonial Williamsburg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538663" y="414275"/>
            <a:ext cx="142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Instagram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970650" y="401825"/>
            <a:ext cx="1426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900" y="786900"/>
            <a:ext cx="2752046" cy="15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350" y="786899"/>
            <a:ext cx="1558916" cy="159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6663" y="776688"/>
            <a:ext cx="2594760" cy="144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4800" y="3879525"/>
            <a:ext cx="2752072" cy="127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6902" y="3881645"/>
            <a:ext cx="2590223" cy="127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14575" y="3908213"/>
            <a:ext cx="2590223" cy="121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65375" y="2316968"/>
            <a:ext cx="2752077" cy="153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TargetWireshark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86100" y="2263200"/>
            <a:ext cx="2527790" cy="15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Screenshot (33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14442" y="2342463"/>
            <a:ext cx="2174669" cy="144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Extracted Features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71600"/>
            <a:ext cx="4260300" cy="3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Count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Packet Interval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 Packet Interval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 Packet Interval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Packet Interval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Packet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 Packet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 Packet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Packet Length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0" y="1171600"/>
            <a:ext cx="4260300" cy="3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Payload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Header Length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Dataset size: 40 for each network type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Models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Baseline: Logistic Regression (Multiclass)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SVM (Support Vector Machine)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Neural Network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71600"/>
            <a:ext cx="8520600" cy="3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Ensemble machine learning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Combines multiple varying decision trees to reach a more accurate result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Bagging (bootstrap aggregation) of training data subsets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Majority Voting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overfitting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at handling a large number of features / high dimension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an aggregation of decision trees, black box and complex to understand how features are weighed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significant memory and compute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 (Multiclass)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Extension of binary SVM (we used SVC)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Breaks down into multiple binary classification tasks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vs One classifier of every possible pair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subsetting for each classifier pair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Voting system with vote done by each classifier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at handling lopsided datasets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Scales well when handled as binary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Scales poorly with classes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time required to compute predictions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71600"/>
            <a:ext cx="8520600" cy="3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Supervised learning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layer that consists of the same number of neurons as the number of classes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Activation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Loss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model highly complex nonlinear relationships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 learning and flexibility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Scalability with increased number of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Computationally expensive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box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Minima / Maxima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demand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87950" y="82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-74175" y="653650"/>
            <a:ext cx="40935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Evaluation Results (Train/Validation/Test: 6:2:2)</a:t>
            </a:r>
            <a:endParaRPr/>
          </a:p>
        </p:txBody>
      </p:sp>
      <p:graphicFrame>
        <p:nvGraphicFramePr>
          <p:cNvPr id="124" name="Google Shape;124;p21"/>
          <p:cNvGraphicFramePr/>
          <p:nvPr/>
        </p:nvGraphicFramePr>
        <p:xfrm>
          <a:off x="123975" y="1096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{E6272F50-1003-41CB-8EC8-E29694B8B799}</a:tableStyleId>
              </a:tblPr>
              <a:tblGrid>
                <a:gridCol w="1903625"/>
                <a:gridCol w="956550"/>
                <a:gridCol w="837025"/>
              </a:tblGrid>
              <a:tr h="4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F1 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Logistic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 Regression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1.00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1.00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 Vector Machine (SVM)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Neural Network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1.00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1.00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" name="Google Shape;125;p21"/>
          <p:cNvSpPr txBox="1"/>
          <p:nvPr/>
        </p:nvSpPr>
        <p:spPr>
          <a:xfrm>
            <a:off x="3" y="4040453"/>
            <a:ext cx="2837700" cy="49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2723574" y="4252537"/>
            <a:ext cx="2102100" cy="49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4571997" y="4040451"/>
            <a:ext cx="2007600" cy="499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6088316" y="4387358"/>
            <a:ext cx="3058500" cy="5049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0" y="4805354"/>
            <a:ext cx="70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Note: TP = True positive; FP = False positive; TN = True negative; FN = False negative.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21175" y="1"/>
            <a:ext cx="5441777" cy="20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21175" y="2013450"/>
            <a:ext cx="5325650" cy="187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Logistic regression performing very well implies that the data are linearly separable (classes are neatly separated across lines, easier to guess based on the features).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websites we chose were designed for different purposes. Their traffic patterns were likely quite distinct from each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practical application, a more diverse dataset should be used to train our models, and we should </a:t>
            </a:r>
            <a:r>
              <a:rPr lang="en"/>
              <a:t>reevaluate</a:t>
            </a:r>
            <a:r>
              <a:rPr lang="en"/>
              <a:t> how each model performs.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could allow us to extend the application of our model, for example, predicting website category instead of the website itself.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challenges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number of features (could contribute to overfitting)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Differences in network connection during data collection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Future Improvements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number of records collected for each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Decrease number of features (remove least important features)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same network connection, at the same time of day, for data collection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